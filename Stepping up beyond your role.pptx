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282" r:id="rId7"/>
    <p:sldId id="307" r:id="rId8"/>
    <p:sldId id="281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592"/>
    <a:srgbClr val="BC7942"/>
    <a:srgbClr val="202C8F"/>
    <a:srgbClr val="EDF1F5"/>
    <a:srgbClr val="FCFDE9"/>
    <a:srgbClr val="D8B08F"/>
    <a:srgbClr val="DE8C8C"/>
    <a:srgbClr val="FDFBF6"/>
    <a:srgbClr val="AAC4E9"/>
    <a:srgbClr val="F5CD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0" d="100"/>
          <a:sy n="70" d="100"/>
        </p:scale>
        <p:origin x="536" y="5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29C8B4-49DC-4F50-B8B6-42A3AFCAB04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7B86F9C-2945-4DFD-9CCC-99D3823F1A0A}">
      <dgm:prSet/>
      <dgm:spPr/>
      <dgm:t>
        <a:bodyPr/>
        <a:lstStyle/>
        <a:p>
          <a:r>
            <a:rPr lang="en-US" b="1"/>
            <a:t>Complexity and Ambiguity</a:t>
          </a:r>
          <a:r>
            <a:rPr lang="en-US"/>
            <a:t>: Roles are no longer rigid, successful organizations need fluidity.</a:t>
          </a:r>
        </a:p>
      </dgm:t>
    </dgm:pt>
    <dgm:pt modelId="{2E6E4CC7-A89F-452A-831D-8AABD2468E74}" type="parTrans" cxnId="{E276D77D-714C-43E0-8ADC-4781AC3F6A4C}">
      <dgm:prSet/>
      <dgm:spPr/>
      <dgm:t>
        <a:bodyPr/>
        <a:lstStyle/>
        <a:p>
          <a:endParaRPr lang="en-US"/>
        </a:p>
      </dgm:t>
    </dgm:pt>
    <dgm:pt modelId="{B49A841E-F39E-4238-8E24-F258AD78E241}" type="sibTrans" cxnId="{E276D77D-714C-43E0-8ADC-4781AC3F6A4C}">
      <dgm:prSet/>
      <dgm:spPr/>
      <dgm:t>
        <a:bodyPr/>
        <a:lstStyle/>
        <a:p>
          <a:endParaRPr lang="en-US"/>
        </a:p>
      </dgm:t>
    </dgm:pt>
    <dgm:pt modelId="{62792DC8-2EE0-4C88-AC29-A70A87494ED2}">
      <dgm:prSet/>
      <dgm:spPr/>
      <dgm:t>
        <a:bodyPr/>
        <a:lstStyle/>
        <a:p>
          <a:r>
            <a:rPr lang="en-US" b="1"/>
            <a:t>Velocity of Change</a:t>
          </a:r>
          <a:r>
            <a:rPr lang="en-US"/>
            <a:t>: Waiting for direction is too slow, initiative is a competitive edge.</a:t>
          </a:r>
        </a:p>
      </dgm:t>
    </dgm:pt>
    <dgm:pt modelId="{593DA09F-9DE0-43D4-B72A-9382E4A36988}" type="parTrans" cxnId="{27189579-489E-4E69-BFED-AB14E9A91398}">
      <dgm:prSet/>
      <dgm:spPr/>
      <dgm:t>
        <a:bodyPr/>
        <a:lstStyle/>
        <a:p>
          <a:endParaRPr lang="en-US"/>
        </a:p>
      </dgm:t>
    </dgm:pt>
    <dgm:pt modelId="{AD1C9DAC-9E73-49A4-B40C-2775996C9BCB}" type="sibTrans" cxnId="{27189579-489E-4E69-BFED-AB14E9A91398}">
      <dgm:prSet/>
      <dgm:spPr/>
      <dgm:t>
        <a:bodyPr/>
        <a:lstStyle/>
        <a:p>
          <a:endParaRPr lang="en-US"/>
        </a:p>
      </dgm:t>
    </dgm:pt>
    <dgm:pt modelId="{2C9B469D-A7AA-4C39-97A1-8DBD4AD67A58}">
      <dgm:prSet/>
      <dgm:spPr/>
      <dgm:t>
        <a:bodyPr/>
        <a:lstStyle/>
        <a:p>
          <a:r>
            <a:rPr lang="en-US" b="1"/>
            <a:t>Talent Retention</a:t>
          </a:r>
          <a:r>
            <a:rPr lang="en-US"/>
            <a:t>: Employees seek meaning and impact, stepping up provides both.</a:t>
          </a:r>
        </a:p>
      </dgm:t>
    </dgm:pt>
    <dgm:pt modelId="{3DA0D526-A91A-400C-9F58-E2048082CDD3}" type="parTrans" cxnId="{83AA025D-5566-430D-91C8-B60E7F845368}">
      <dgm:prSet/>
      <dgm:spPr/>
      <dgm:t>
        <a:bodyPr/>
        <a:lstStyle/>
        <a:p>
          <a:endParaRPr lang="en-US"/>
        </a:p>
      </dgm:t>
    </dgm:pt>
    <dgm:pt modelId="{9235652E-CA68-45AA-9FB3-7BD38CCF05CC}" type="sibTrans" cxnId="{83AA025D-5566-430D-91C8-B60E7F845368}">
      <dgm:prSet/>
      <dgm:spPr/>
      <dgm:t>
        <a:bodyPr/>
        <a:lstStyle/>
        <a:p>
          <a:endParaRPr lang="en-US"/>
        </a:p>
      </dgm:t>
    </dgm:pt>
    <dgm:pt modelId="{5E0053F7-6839-407A-A0A5-082FFD6B3642}">
      <dgm:prSet/>
      <dgm:spPr/>
      <dgm:t>
        <a:bodyPr/>
        <a:lstStyle/>
        <a:p>
          <a:r>
            <a:rPr lang="en-US" b="1"/>
            <a:t>Trust and Empowerment</a:t>
          </a:r>
          <a:r>
            <a:rPr lang="en-US"/>
            <a:t>: It’s the foundation of modern, high-performing teams.</a:t>
          </a:r>
        </a:p>
      </dgm:t>
    </dgm:pt>
    <dgm:pt modelId="{E0862F4B-BBB1-4058-96FA-3D292C77F98A}" type="parTrans" cxnId="{397E049C-392E-4779-8B4F-71263447BE64}">
      <dgm:prSet/>
      <dgm:spPr/>
      <dgm:t>
        <a:bodyPr/>
        <a:lstStyle/>
        <a:p>
          <a:endParaRPr lang="en-US"/>
        </a:p>
      </dgm:t>
    </dgm:pt>
    <dgm:pt modelId="{E0C86383-1298-4903-9D8E-48F50C0A008F}" type="sibTrans" cxnId="{397E049C-392E-4779-8B4F-71263447BE64}">
      <dgm:prSet/>
      <dgm:spPr/>
      <dgm:t>
        <a:bodyPr/>
        <a:lstStyle/>
        <a:p>
          <a:endParaRPr lang="en-US"/>
        </a:p>
      </dgm:t>
    </dgm:pt>
    <dgm:pt modelId="{E10AE0C5-2EDF-466B-8331-58CD1E22E0B4}" type="pres">
      <dgm:prSet presAssocID="{8129C8B4-49DC-4F50-B8B6-42A3AFCAB04F}" presName="root" presStyleCnt="0">
        <dgm:presLayoutVars>
          <dgm:dir/>
          <dgm:resizeHandles val="exact"/>
        </dgm:presLayoutVars>
      </dgm:prSet>
      <dgm:spPr/>
    </dgm:pt>
    <dgm:pt modelId="{6A1F483D-43E1-45B7-84AC-B9AF2763C71C}" type="pres">
      <dgm:prSet presAssocID="{07B86F9C-2945-4DFD-9CCC-99D3823F1A0A}" presName="compNode" presStyleCnt="0"/>
      <dgm:spPr/>
    </dgm:pt>
    <dgm:pt modelId="{96A12B0A-6BFD-4A93-B7F9-693E2780C2B3}" type="pres">
      <dgm:prSet presAssocID="{07B86F9C-2945-4DFD-9CCC-99D3823F1A0A}" presName="bgRect" presStyleLbl="bgShp" presStyleIdx="0" presStyleCnt="4"/>
      <dgm:spPr/>
    </dgm:pt>
    <dgm:pt modelId="{E222782C-7FAA-484F-BA51-DC9F4395C417}" type="pres">
      <dgm:prSet presAssocID="{07B86F9C-2945-4DFD-9CCC-99D3823F1A0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F36A8108-8A1E-4185-A88C-F975DCD3E402}" type="pres">
      <dgm:prSet presAssocID="{07B86F9C-2945-4DFD-9CCC-99D3823F1A0A}" presName="spaceRect" presStyleCnt="0"/>
      <dgm:spPr/>
    </dgm:pt>
    <dgm:pt modelId="{E716BBC1-57AB-4A66-8F6A-C682534E81A5}" type="pres">
      <dgm:prSet presAssocID="{07B86F9C-2945-4DFD-9CCC-99D3823F1A0A}" presName="parTx" presStyleLbl="revTx" presStyleIdx="0" presStyleCnt="4">
        <dgm:presLayoutVars>
          <dgm:chMax val="0"/>
          <dgm:chPref val="0"/>
        </dgm:presLayoutVars>
      </dgm:prSet>
      <dgm:spPr/>
    </dgm:pt>
    <dgm:pt modelId="{DF726C6D-D06C-44F0-B890-2F2357B0E836}" type="pres">
      <dgm:prSet presAssocID="{B49A841E-F39E-4238-8E24-F258AD78E241}" presName="sibTrans" presStyleCnt="0"/>
      <dgm:spPr/>
    </dgm:pt>
    <dgm:pt modelId="{CA3A68B2-97D2-4EDD-9F79-AAB141CBA537}" type="pres">
      <dgm:prSet presAssocID="{62792DC8-2EE0-4C88-AC29-A70A87494ED2}" presName="compNode" presStyleCnt="0"/>
      <dgm:spPr/>
    </dgm:pt>
    <dgm:pt modelId="{BFBE6BD0-BCA3-4F37-B51E-9E8FE1A5DF84}" type="pres">
      <dgm:prSet presAssocID="{62792DC8-2EE0-4C88-AC29-A70A87494ED2}" presName="bgRect" presStyleLbl="bgShp" presStyleIdx="1" presStyleCnt="4"/>
      <dgm:spPr/>
    </dgm:pt>
    <dgm:pt modelId="{B3A10EBF-2D38-4887-A21B-6279B15B3040}" type="pres">
      <dgm:prSet presAssocID="{62792DC8-2EE0-4C88-AC29-A70A87494ED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5952D57C-DC6B-4608-850B-07B3305D936F}" type="pres">
      <dgm:prSet presAssocID="{62792DC8-2EE0-4C88-AC29-A70A87494ED2}" presName="spaceRect" presStyleCnt="0"/>
      <dgm:spPr/>
    </dgm:pt>
    <dgm:pt modelId="{CC1A2B03-D24E-4D9A-BB1A-E52626DC4E0E}" type="pres">
      <dgm:prSet presAssocID="{62792DC8-2EE0-4C88-AC29-A70A87494ED2}" presName="parTx" presStyleLbl="revTx" presStyleIdx="1" presStyleCnt="4">
        <dgm:presLayoutVars>
          <dgm:chMax val="0"/>
          <dgm:chPref val="0"/>
        </dgm:presLayoutVars>
      </dgm:prSet>
      <dgm:spPr/>
    </dgm:pt>
    <dgm:pt modelId="{BCE20606-C103-4D7E-AB58-8A7B1DE32FCC}" type="pres">
      <dgm:prSet presAssocID="{AD1C9DAC-9E73-49A4-B40C-2775996C9BCB}" presName="sibTrans" presStyleCnt="0"/>
      <dgm:spPr/>
    </dgm:pt>
    <dgm:pt modelId="{665C7258-0A1A-49F0-A45D-A9981360629E}" type="pres">
      <dgm:prSet presAssocID="{2C9B469D-A7AA-4C39-97A1-8DBD4AD67A58}" presName="compNode" presStyleCnt="0"/>
      <dgm:spPr/>
    </dgm:pt>
    <dgm:pt modelId="{19EDE1AB-9398-424B-8E6C-400C2F950482}" type="pres">
      <dgm:prSet presAssocID="{2C9B469D-A7AA-4C39-97A1-8DBD4AD67A58}" presName="bgRect" presStyleLbl="bgShp" presStyleIdx="2" presStyleCnt="4"/>
      <dgm:spPr/>
    </dgm:pt>
    <dgm:pt modelId="{F90D0F42-C6A9-4484-B1C9-FD89857EE232}" type="pres">
      <dgm:prSet presAssocID="{2C9B469D-A7AA-4C39-97A1-8DBD4AD67A5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3D6050F4-439A-46D5-8088-AEF49B115802}" type="pres">
      <dgm:prSet presAssocID="{2C9B469D-A7AA-4C39-97A1-8DBD4AD67A58}" presName="spaceRect" presStyleCnt="0"/>
      <dgm:spPr/>
    </dgm:pt>
    <dgm:pt modelId="{3746FB90-FC97-4598-A482-E74AE365E83C}" type="pres">
      <dgm:prSet presAssocID="{2C9B469D-A7AA-4C39-97A1-8DBD4AD67A58}" presName="parTx" presStyleLbl="revTx" presStyleIdx="2" presStyleCnt="4">
        <dgm:presLayoutVars>
          <dgm:chMax val="0"/>
          <dgm:chPref val="0"/>
        </dgm:presLayoutVars>
      </dgm:prSet>
      <dgm:spPr/>
    </dgm:pt>
    <dgm:pt modelId="{C66909A9-A80D-4D00-BB7F-F21A6C41E36F}" type="pres">
      <dgm:prSet presAssocID="{9235652E-CA68-45AA-9FB3-7BD38CCF05CC}" presName="sibTrans" presStyleCnt="0"/>
      <dgm:spPr/>
    </dgm:pt>
    <dgm:pt modelId="{1AC57701-3985-4BBF-A9A9-05D96B3A93C6}" type="pres">
      <dgm:prSet presAssocID="{5E0053F7-6839-407A-A0A5-082FFD6B3642}" presName="compNode" presStyleCnt="0"/>
      <dgm:spPr/>
    </dgm:pt>
    <dgm:pt modelId="{EBFDC3EB-D63E-4569-B4A1-E48442276260}" type="pres">
      <dgm:prSet presAssocID="{5E0053F7-6839-407A-A0A5-082FFD6B3642}" presName="bgRect" presStyleLbl="bgShp" presStyleIdx="3" presStyleCnt="4"/>
      <dgm:spPr/>
    </dgm:pt>
    <dgm:pt modelId="{6D74084B-D2FD-4835-8164-7A301DA9D4EB}" type="pres">
      <dgm:prSet presAssocID="{5E0053F7-6839-407A-A0A5-082FFD6B364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1228E5F3-5A57-4BFF-9FF2-ABA6AA55F295}" type="pres">
      <dgm:prSet presAssocID="{5E0053F7-6839-407A-A0A5-082FFD6B3642}" presName="spaceRect" presStyleCnt="0"/>
      <dgm:spPr/>
    </dgm:pt>
    <dgm:pt modelId="{1C01BB30-51CA-49D8-8BCC-BDC96F806E28}" type="pres">
      <dgm:prSet presAssocID="{5E0053F7-6839-407A-A0A5-082FFD6B364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91EF728-6AA8-4438-80FF-0DF5D0EA0EC8}" type="presOf" srcId="{07B86F9C-2945-4DFD-9CCC-99D3823F1A0A}" destId="{E716BBC1-57AB-4A66-8F6A-C682534E81A5}" srcOrd="0" destOrd="0" presId="urn:microsoft.com/office/officeart/2018/2/layout/IconVerticalSolidList"/>
    <dgm:cxn modelId="{83AA025D-5566-430D-91C8-B60E7F845368}" srcId="{8129C8B4-49DC-4F50-B8B6-42A3AFCAB04F}" destId="{2C9B469D-A7AA-4C39-97A1-8DBD4AD67A58}" srcOrd="2" destOrd="0" parTransId="{3DA0D526-A91A-400C-9F58-E2048082CDD3}" sibTransId="{9235652E-CA68-45AA-9FB3-7BD38CCF05CC}"/>
    <dgm:cxn modelId="{5CC1F162-A83D-4A34-9DA9-DDF1E2C0A314}" type="presOf" srcId="{2C9B469D-A7AA-4C39-97A1-8DBD4AD67A58}" destId="{3746FB90-FC97-4598-A482-E74AE365E83C}" srcOrd="0" destOrd="0" presId="urn:microsoft.com/office/officeart/2018/2/layout/IconVerticalSolidList"/>
    <dgm:cxn modelId="{0B98E769-9B7E-4819-BE9F-495ECFB0B204}" type="presOf" srcId="{62792DC8-2EE0-4C88-AC29-A70A87494ED2}" destId="{CC1A2B03-D24E-4D9A-BB1A-E52626DC4E0E}" srcOrd="0" destOrd="0" presId="urn:microsoft.com/office/officeart/2018/2/layout/IconVerticalSolidList"/>
    <dgm:cxn modelId="{27189579-489E-4E69-BFED-AB14E9A91398}" srcId="{8129C8B4-49DC-4F50-B8B6-42A3AFCAB04F}" destId="{62792DC8-2EE0-4C88-AC29-A70A87494ED2}" srcOrd="1" destOrd="0" parTransId="{593DA09F-9DE0-43D4-B72A-9382E4A36988}" sibTransId="{AD1C9DAC-9E73-49A4-B40C-2775996C9BCB}"/>
    <dgm:cxn modelId="{E276D77D-714C-43E0-8ADC-4781AC3F6A4C}" srcId="{8129C8B4-49DC-4F50-B8B6-42A3AFCAB04F}" destId="{07B86F9C-2945-4DFD-9CCC-99D3823F1A0A}" srcOrd="0" destOrd="0" parTransId="{2E6E4CC7-A89F-452A-831D-8AABD2468E74}" sibTransId="{B49A841E-F39E-4238-8E24-F258AD78E241}"/>
    <dgm:cxn modelId="{54406986-8609-4629-A97B-4A01B30F2C1E}" type="presOf" srcId="{8129C8B4-49DC-4F50-B8B6-42A3AFCAB04F}" destId="{E10AE0C5-2EDF-466B-8331-58CD1E22E0B4}" srcOrd="0" destOrd="0" presId="urn:microsoft.com/office/officeart/2018/2/layout/IconVerticalSolidList"/>
    <dgm:cxn modelId="{397E049C-392E-4779-8B4F-71263447BE64}" srcId="{8129C8B4-49DC-4F50-B8B6-42A3AFCAB04F}" destId="{5E0053F7-6839-407A-A0A5-082FFD6B3642}" srcOrd="3" destOrd="0" parTransId="{E0862F4B-BBB1-4058-96FA-3D292C77F98A}" sibTransId="{E0C86383-1298-4903-9D8E-48F50C0A008F}"/>
    <dgm:cxn modelId="{08F816E4-7232-44B7-864D-F12D5172181C}" type="presOf" srcId="{5E0053F7-6839-407A-A0A5-082FFD6B3642}" destId="{1C01BB30-51CA-49D8-8BCC-BDC96F806E28}" srcOrd="0" destOrd="0" presId="urn:microsoft.com/office/officeart/2018/2/layout/IconVerticalSolidList"/>
    <dgm:cxn modelId="{CE42C029-32DB-4671-B800-8F3E27C2D426}" type="presParOf" srcId="{E10AE0C5-2EDF-466B-8331-58CD1E22E0B4}" destId="{6A1F483D-43E1-45B7-84AC-B9AF2763C71C}" srcOrd="0" destOrd="0" presId="urn:microsoft.com/office/officeart/2018/2/layout/IconVerticalSolidList"/>
    <dgm:cxn modelId="{30EC6AAB-0119-4782-96DA-470760043D55}" type="presParOf" srcId="{6A1F483D-43E1-45B7-84AC-B9AF2763C71C}" destId="{96A12B0A-6BFD-4A93-B7F9-693E2780C2B3}" srcOrd="0" destOrd="0" presId="urn:microsoft.com/office/officeart/2018/2/layout/IconVerticalSolidList"/>
    <dgm:cxn modelId="{160A7DB9-4EDA-4659-AC62-38083A662FDD}" type="presParOf" srcId="{6A1F483D-43E1-45B7-84AC-B9AF2763C71C}" destId="{E222782C-7FAA-484F-BA51-DC9F4395C417}" srcOrd="1" destOrd="0" presId="urn:microsoft.com/office/officeart/2018/2/layout/IconVerticalSolidList"/>
    <dgm:cxn modelId="{7AE2D6A9-E6C8-4952-BC6D-37918431C9AB}" type="presParOf" srcId="{6A1F483D-43E1-45B7-84AC-B9AF2763C71C}" destId="{F36A8108-8A1E-4185-A88C-F975DCD3E402}" srcOrd="2" destOrd="0" presId="urn:microsoft.com/office/officeart/2018/2/layout/IconVerticalSolidList"/>
    <dgm:cxn modelId="{432ABE80-0C89-475C-A9D8-43B29AD28FC5}" type="presParOf" srcId="{6A1F483D-43E1-45B7-84AC-B9AF2763C71C}" destId="{E716BBC1-57AB-4A66-8F6A-C682534E81A5}" srcOrd="3" destOrd="0" presId="urn:microsoft.com/office/officeart/2018/2/layout/IconVerticalSolidList"/>
    <dgm:cxn modelId="{A74CC550-18F4-4992-8CBE-0C99EC65B983}" type="presParOf" srcId="{E10AE0C5-2EDF-466B-8331-58CD1E22E0B4}" destId="{DF726C6D-D06C-44F0-B890-2F2357B0E836}" srcOrd="1" destOrd="0" presId="urn:microsoft.com/office/officeart/2018/2/layout/IconVerticalSolidList"/>
    <dgm:cxn modelId="{276C36FD-4A9E-40DE-BB3B-44F9B0D52B0B}" type="presParOf" srcId="{E10AE0C5-2EDF-466B-8331-58CD1E22E0B4}" destId="{CA3A68B2-97D2-4EDD-9F79-AAB141CBA537}" srcOrd="2" destOrd="0" presId="urn:microsoft.com/office/officeart/2018/2/layout/IconVerticalSolidList"/>
    <dgm:cxn modelId="{CF520255-DCA4-4C57-B751-9441CD605CC0}" type="presParOf" srcId="{CA3A68B2-97D2-4EDD-9F79-AAB141CBA537}" destId="{BFBE6BD0-BCA3-4F37-B51E-9E8FE1A5DF84}" srcOrd="0" destOrd="0" presId="urn:microsoft.com/office/officeart/2018/2/layout/IconVerticalSolidList"/>
    <dgm:cxn modelId="{EE7A2229-1FAD-4AF6-AC94-570223E62A1D}" type="presParOf" srcId="{CA3A68B2-97D2-4EDD-9F79-AAB141CBA537}" destId="{B3A10EBF-2D38-4887-A21B-6279B15B3040}" srcOrd="1" destOrd="0" presId="urn:microsoft.com/office/officeart/2018/2/layout/IconVerticalSolidList"/>
    <dgm:cxn modelId="{3EDACE31-6A4B-4714-9187-1D9D7819A32C}" type="presParOf" srcId="{CA3A68B2-97D2-4EDD-9F79-AAB141CBA537}" destId="{5952D57C-DC6B-4608-850B-07B3305D936F}" srcOrd="2" destOrd="0" presId="urn:microsoft.com/office/officeart/2018/2/layout/IconVerticalSolidList"/>
    <dgm:cxn modelId="{EAF8D872-A089-4DEE-BA3A-4BDF6FDD2827}" type="presParOf" srcId="{CA3A68B2-97D2-4EDD-9F79-AAB141CBA537}" destId="{CC1A2B03-D24E-4D9A-BB1A-E52626DC4E0E}" srcOrd="3" destOrd="0" presId="urn:microsoft.com/office/officeart/2018/2/layout/IconVerticalSolidList"/>
    <dgm:cxn modelId="{1EA24A32-C0B2-47EF-83F4-EBA176E26393}" type="presParOf" srcId="{E10AE0C5-2EDF-466B-8331-58CD1E22E0B4}" destId="{BCE20606-C103-4D7E-AB58-8A7B1DE32FCC}" srcOrd="3" destOrd="0" presId="urn:microsoft.com/office/officeart/2018/2/layout/IconVerticalSolidList"/>
    <dgm:cxn modelId="{762CF68B-9C3F-4F96-A69A-2E37E417F19A}" type="presParOf" srcId="{E10AE0C5-2EDF-466B-8331-58CD1E22E0B4}" destId="{665C7258-0A1A-49F0-A45D-A9981360629E}" srcOrd="4" destOrd="0" presId="urn:microsoft.com/office/officeart/2018/2/layout/IconVerticalSolidList"/>
    <dgm:cxn modelId="{768F83C2-4A9B-4F47-91A8-0540B7C5F1C5}" type="presParOf" srcId="{665C7258-0A1A-49F0-A45D-A9981360629E}" destId="{19EDE1AB-9398-424B-8E6C-400C2F950482}" srcOrd="0" destOrd="0" presId="urn:microsoft.com/office/officeart/2018/2/layout/IconVerticalSolidList"/>
    <dgm:cxn modelId="{612E9933-5367-4758-B8D4-2629741953BE}" type="presParOf" srcId="{665C7258-0A1A-49F0-A45D-A9981360629E}" destId="{F90D0F42-C6A9-4484-B1C9-FD89857EE232}" srcOrd="1" destOrd="0" presId="urn:microsoft.com/office/officeart/2018/2/layout/IconVerticalSolidList"/>
    <dgm:cxn modelId="{25BE25E7-2B28-4E21-B3FA-C9828A324E6D}" type="presParOf" srcId="{665C7258-0A1A-49F0-A45D-A9981360629E}" destId="{3D6050F4-439A-46D5-8088-AEF49B115802}" srcOrd="2" destOrd="0" presId="urn:microsoft.com/office/officeart/2018/2/layout/IconVerticalSolidList"/>
    <dgm:cxn modelId="{E2D39B31-28C2-4431-9EBC-10BEC80555AC}" type="presParOf" srcId="{665C7258-0A1A-49F0-A45D-A9981360629E}" destId="{3746FB90-FC97-4598-A482-E74AE365E83C}" srcOrd="3" destOrd="0" presId="urn:microsoft.com/office/officeart/2018/2/layout/IconVerticalSolidList"/>
    <dgm:cxn modelId="{9D94D355-FAA2-482A-9C9A-B53D6C565EF4}" type="presParOf" srcId="{E10AE0C5-2EDF-466B-8331-58CD1E22E0B4}" destId="{C66909A9-A80D-4D00-BB7F-F21A6C41E36F}" srcOrd="5" destOrd="0" presId="urn:microsoft.com/office/officeart/2018/2/layout/IconVerticalSolidList"/>
    <dgm:cxn modelId="{3EC92D17-3E96-4332-8400-8B9B987D5E04}" type="presParOf" srcId="{E10AE0C5-2EDF-466B-8331-58CD1E22E0B4}" destId="{1AC57701-3985-4BBF-A9A9-05D96B3A93C6}" srcOrd="6" destOrd="0" presId="urn:microsoft.com/office/officeart/2018/2/layout/IconVerticalSolidList"/>
    <dgm:cxn modelId="{DB76A070-5824-481E-A178-299D67E83BE2}" type="presParOf" srcId="{1AC57701-3985-4BBF-A9A9-05D96B3A93C6}" destId="{EBFDC3EB-D63E-4569-B4A1-E48442276260}" srcOrd="0" destOrd="0" presId="urn:microsoft.com/office/officeart/2018/2/layout/IconVerticalSolidList"/>
    <dgm:cxn modelId="{E19D1D02-2A2B-4E2B-8BD1-B3109E698461}" type="presParOf" srcId="{1AC57701-3985-4BBF-A9A9-05D96B3A93C6}" destId="{6D74084B-D2FD-4835-8164-7A301DA9D4EB}" srcOrd="1" destOrd="0" presId="urn:microsoft.com/office/officeart/2018/2/layout/IconVerticalSolidList"/>
    <dgm:cxn modelId="{D34BF23A-73C4-482A-949F-89D7ECD09E9C}" type="presParOf" srcId="{1AC57701-3985-4BBF-A9A9-05D96B3A93C6}" destId="{1228E5F3-5A57-4BFF-9FF2-ABA6AA55F295}" srcOrd="2" destOrd="0" presId="urn:microsoft.com/office/officeart/2018/2/layout/IconVerticalSolidList"/>
    <dgm:cxn modelId="{75FE5FE4-F6FA-4A4C-9705-3070D6BCB254}" type="presParOf" srcId="{1AC57701-3985-4BBF-A9A9-05D96B3A93C6}" destId="{1C01BB30-51CA-49D8-8BCC-BDC96F806E2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A12B0A-6BFD-4A93-B7F9-693E2780C2B3}">
      <dsp:nvSpPr>
        <dsp:cNvPr id="0" name=""/>
        <dsp:cNvSpPr/>
      </dsp:nvSpPr>
      <dsp:spPr>
        <a:xfrm>
          <a:off x="0" y="2124"/>
          <a:ext cx="6242839" cy="107691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22782C-7FAA-484F-BA51-DC9F4395C417}">
      <dsp:nvSpPr>
        <dsp:cNvPr id="0" name=""/>
        <dsp:cNvSpPr/>
      </dsp:nvSpPr>
      <dsp:spPr>
        <a:xfrm>
          <a:off x="325766" y="244430"/>
          <a:ext cx="592302" cy="5923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16BBC1-57AB-4A66-8F6A-C682534E81A5}">
      <dsp:nvSpPr>
        <dsp:cNvPr id="0" name=""/>
        <dsp:cNvSpPr/>
      </dsp:nvSpPr>
      <dsp:spPr>
        <a:xfrm>
          <a:off x="1243835" y="2124"/>
          <a:ext cx="4999003" cy="1076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73" tIns="113973" rIns="113973" bIns="11397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Complexity and Ambiguity</a:t>
          </a:r>
          <a:r>
            <a:rPr lang="en-US" sz="1700" kern="1200"/>
            <a:t>: Roles are no longer rigid, successful organizations need fluidity.</a:t>
          </a:r>
        </a:p>
      </dsp:txBody>
      <dsp:txXfrm>
        <a:off x="1243835" y="2124"/>
        <a:ext cx="4999003" cy="1076914"/>
      </dsp:txXfrm>
    </dsp:sp>
    <dsp:sp modelId="{BFBE6BD0-BCA3-4F37-B51E-9E8FE1A5DF84}">
      <dsp:nvSpPr>
        <dsp:cNvPr id="0" name=""/>
        <dsp:cNvSpPr/>
      </dsp:nvSpPr>
      <dsp:spPr>
        <a:xfrm>
          <a:off x="0" y="1348267"/>
          <a:ext cx="6242839" cy="107691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A10EBF-2D38-4887-A21B-6279B15B3040}">
      <dsp:nvSpPr>
        <dsp:cNvPr id="0" name=""/>
        <dsp:cNvSpPr/>
      </dsp:nvSpPr>
      <dsp:spPr>
        <a:xfrm>
          <a:off x="325766" y="1590573"/>
          <a:ext cx="592302" cy="5923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A2B03-D24E-4D9A-BB1A-E52626DC4E0E}">
      <dsp:nvSpPr>
        <dsp:cNvPr id="0" name=""/>
        <dsp:cNvSpPr/>
      </dsp:nvSpPr>
      <dsp:spPr>
        <a:xfrm>
          <a:off x="1243835" y="1348267"/>
          <a:ext cx="4999003" cy="1076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73" tIns="113973" rIns="113973" bIns="11397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Velocity of Change</a:t>
          </a:r>
          <a:r>
            <a:rPr lang="en-US" sz="1700" kern="1200"/>
            <a:t>: Waiting for direction is too slow, initiative is a competitive edge.</a:t>
          </a:r>
        </a:p>
      </dsp:txBody>
      <dsp:txXfrm>
        <a:off x="1243835" y="1348267"/>
        <a:ext cx="4999003" cy="1076914"/>
      </dsp:txXfrm>
    </dsp:sp>
    <dsp:sp modelId="{19EDE1AB-9398-424B-8E6C-400C2F950482}">
      <dsp:nvSpPr>
        <dsp:cNvPr id="0" name=""/>
        <dsp:cNvSpPr/>
      </dsp:nvSpPr>
      <dsp:spPr>
        <a:xfrm>
          <a:off x="0" y="2694410"/>
          <a:ext cx="6242839" cy="107691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0D0F42-C6A9-4484-B1C9-FD89857EE232}">
      <dsp:nvSpPr>
        <dsp:cNvPr id="0" name=""/>
        <dsp:cNvSpPr/>
      </dsp:nvSpPr>
      <dsp:spPr>
        <a:xfrm>
          <a:off x="325766" y="2936715"/>
          <a:ext cx="592302" cy="5923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6FB90-FC97-4598-A482-E74AE365E83C}">
      <dsp:nvSpPr>
        <dsp:cNvPr id="0" name=""/>
        <dsp:cNvSpPr/>
      </dsp:nvSpPr>
      <dsp:spPr>
        <a:xfrm>
          <a:off x="1243835" y="2694410"/>
          <a:ext cx="4999003" cy="1076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73" tIns="113973" rIns="113973" bIns="11397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Talent Retention</a:t>
          </a:r>
          <a:r>
            <a:rPr lang="en-US" sz="1700" kern="1200"/>
            <a:t>: Employees seek meaning and impact, stepping up provides both.</a:t>
          </a:r>
        </a:p>
      </dsp:txBody>
      <dsp:txXfrm>
        <a:off x="1243835" y="2694410"/>
        <a:ext cx="4999003" cy="1076914"/>
      </dsp:txXfrm>
    </dsp:sp>
    <dsp:sp modelId="{EBFDC3EB-D63E-4569-B4A1-E48442276260}">
      <dsp:nvSpPr>
        <dsp:cNvPr id="0" name=""/>
        <dsp:cNvSpPr/>
      </dsp:nvSpPr>
      <dsp:spPr>
        <a:xfrm>
          <a:off x="0" y="4040552"/>
          <a:ext cx="6242839" cy="107691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74084B-D2FD-4835-8164-7A301DA9D4EB}">
      <dsp:nvSpPr>
        <dsp:cNvPr id="0" name=""/>
        <dsp:cNvSpPr/>
      </dsp:nvSpPr>
      <dsp:spPr>
        <a:xfrm>
          <a:off x="325766" y="4282858"/>
          <a:ext cx="592302" cy="5923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1BB30-51CA-49D8-8BCC-BDC96F806E28}">
      <dsp:nvSpPr>
        <dsp:cNvPr id="0" name=""/>
        <dsp:cNvSpPr/>
      </dsp:nvSpPr>
      <dsp:spPr>
        <a:xfrm>
          <a:off x="1243835" y="4040552"/>
          <a:ext cx="4999003" cy="1076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973" tIns="113973" rIns="113973" bIns="11397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Trust and Empowerment</a:t>
          </a:r>
          <a:r>
            <a:rPr lang="en-US" sz="1700" kern="1200"/>
            <a:t>: It’s the foundation of modern, high-performing teams.</a:t>
          </a:r>
        </a:p>
      </dsp:txBody>
      <dsp:txXfrm>
        <a:off x="1243835" y="4040552"/>
        <a:ext cx="4999003" cy="1076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Stepping up beyond your role</a:t>
            </a:r>
            <a:br>
              <a:rPr lang="en-US" dirty="0"/>
            </a:br>
            <a:r>
              <a:rPr lang="en-US" sz="1600" dirty="0"/>
              <a:t>building a culture of support an ownership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D64F889-3F4F-1E3F-9CCA-7E839AC5CAD7}"/>
              </a:ext>
            </a:extLst>
          </p:cNvPr>
          <p:cNvSpPr/>
          <p:nvPr/>
        </p:nvSpPr>
        <p:spPr>
          <a:xfrm>
            <a:off x="0" y="0"/>
            <a:ext cx="2880360" cy="6858000"/>
          </a:xfrm>
          <a:prstGeom prst="rect">
            <a:avLst/>
          </a:prstGeom>
          <a:ln>
            <a:solidFill>
              <a:srgbClr val="D2D592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13" y="905255"/>
            <a:ext cx="4417213" cy="4617467"/>
          </a:xfrm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Why stepping up matters now?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8F63A3B-78C7-47BE-AE5E-E10140E04643}" type="slidenum">
              <a:rPr lang="en-US" sz="11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10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4E433A5-A126-8050-18BC-4B4D81A17D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5584262"/>
              </p:ext>
            </p:extLst>
          </p:nvPr>
        </p:nvGraphicFramePr>
        <p:xfrm>
          <a:off x="5183187" y="741459"/>
          <a:ext cx="6242839" cy="5119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457199"/>
            <a:ext cx="9875463" cy="999746"/>
          </a:xfrm>
        </p:spPr>
        <p:txBody>
          <a:bodyPr vert="horz" lIns="91440" tIns="0" rIns="91440" bIns="0" rtlCol="0" anchor="b" anchorCtr="0">
            <a:normAutofit/>
          </a:bodyPr>
          <a:lstStyle/>
          <a:p>
            <a:r>
              <a:rPr lang="en-US" b="1" kern="1200" cap="all" baseline="0" dirty="0">
                <a:latin typeface="+mj-lt"/>
                <a:ea typeface="+mj-ea"/>
                <a:cs typeface="+mj-cs"/>
              </a:rPr>
              <a:t>Defining “stepping beyond”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20A9F00-A36E-4112-A73F-F6A1A2031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092" y="2787661"/>
            <a:ext cx="5829147" cy="2835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0" numCol="1" rtlCol="0" anchorCtr="0" compatLnSpc="1">
            <a:prstTxWarp prst="textNoShape">
              <a:avLst/>
            </a:prstTxWarp>
            <a:normAutofit/>
          </a:bodyPr>
          <a:lstStyle/>
          <a:p>
            <a:pPr marL="347472" marR="0" lvl="0" indent="-347472" defTabSz="914400" fontAlgn="base"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Proactive Problem Solving: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 Addressing a systemic issue before being asked.</a:t>
            </a:r>
          </a:p>
          <a:p>
            <a:pPr marL="347472" marR="0" lvl="0" indent="-347472" defTabSz="914400" fontAlgn="base"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Knowledge Sharing: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 Mentoring a peer outside your direct team.</a:t>
            </a:r>
          </a:p>
          <a:p>
            <a:pPr marL="347472" marR="0" lvl="0" indent="-347472" defTabSz="914400" fontAlgn="base"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Process Improvement: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 Taking the initiative to streamline a manual workflow. </a:t>
            </a:r>
          </a:p>
          <a:p>
            <a:pPr marL="347472" marR="0" lvl="0" indent="-347472" defTabSz="914400" fontAlgn="base"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Cross-Functional Bridge: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 Voluntarily connecting two teams facing communication friction.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0564" y="1455686"/>
            <a:ext cx="8627962" cy="705348"/>
          </a:xfrm>
        </p:spPr>
        <p:txBody>
          <a:bodyPr vert="horz" lIns="91440" tIns="0" rIns="91440" bIns="0" rtlCol="0">
            <a:normAutofit/>
          </a:bodyPr>
          <a:lstStyle/>
          <a:p>
            <a:pPr marL="0" indent="0">
              <a:buNone/>
            </a:pPr>
            <a:r>
              <a:rPr lang="en-US" dirty="0"/>
              <a:t>It is not doing someone else’s job. It is seeing a need, owning the solution and creating value outside your job description.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vert="horz" lIns="91440" tIns="45720" rIns="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5" y="371628"/>
            <a:ext cx="10511627" cy="1012785"/>
          </a:xfrm>
        </p:spPr>
        <p:txBody>
          <a:bodyPr anchor="b">
            <a:normAutofit/>
          </a:bodyPr>
          <a:lstStyle/>
          <a:p>
            <a:r>
              <a:rPr lang="en-US" dirty="0"/>
              <a:t>The power of personal ownership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975C69E-DABC-A176-C796-1E569263DB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434FB35-D023-EF8B-3813-85A1CB6CADDE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136285248"/>
              </p:ext>
            </p:extLst>
          </p:nvPr>
        </p:nvGraphicFramePr>
        <p:xfrm>
          <a:off x="840974" y="2526474"/>
          <a:ext cx="10510838" cy="3645726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5255419">
                  <a:extLst>
                    <a:ext uri="{9D8B030D-6E8A-4147-A177-3AD203B41FA5}">
                      <a16:colId xmlns:a16="http://schemas.microsoft.com/office/drawing/2014/main" val="3441681279"/>
                    </a:ext>
                  </a:extLst>
                </a:gridCol>
                <a:gridCol w="5255419">
                  <a:extLst>
                    <a:ext uri="{9D8B030D-6E8A-4147-A177-3AD203B41FA5}">
                      <a16:colId xmlns:a16="http://schemas.microsoft.com/office/drawing/2014/main" val="296854331"/>
                    </a:ext>
                  </a:extLst>
                </a:gridCol>
              </a:tblGrid>
              <a:tr h="1215242">
                <a:tc>
                  <a:txBody>
                    <a:bodyPr/>
                    <a:lstStyle/>
                    <a:p>
                      <a:r>
                        <a:rPr lang="en-US" b="1" dirty="0"/>
                        <a:t>Trust:</a:t>
                      </a:r>
                      <a:r>
                        <a:rPr lang="en-US" dirty="0"/>
                        <a:t> </a:t>
                      </a:r>
                      <a:r>
                        <a:rPr lang="en-US" b="0" dirty="0"/>
                        <a:t>People trust those who own their outcomes.</a:t>
                      </a:r>
                      <a:endParaRPr lang="en-IN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Higher Quality:</a:t>
                      </a:r>
                      <a:r>
                        <a:rPr lang="en-US" dirty="0"/>
                        <a:t> </a:t>
                      </a:r>
                      <a:r>
                        <a:rPr lang="en-US" b="0" dirty="0"/>
                        <a:t>Commitment to a result, not just a task.</a:t>
                      </a:r>
                      <a:endParaRPr lang="en-IN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57066355"/>
                  </a:ext>
                </a:extLst>
              </a:tr>
              <a:tr h="1215242">
                <a:tc>
                  <a:txBody>
                    <a:bodyPr/>
                    <a:lstStyle/>
                    <a:p>
                      <a:r>
                        <a:rPr lang="en-US" b="1" dirty="0"/>
                        <a:t>Reliability:</a:t>
                      </a:r>
                      <a:r>
                        <a:rPr lang="en-US" dirty="0"/>
                        <a:t> Predictable results lead to higher team confidence.</a:t>
                      </a:r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Faster Execution:</a:t>
                      </a:r>
                      <a:r>
                        <a:rPr lang="en-US" dirty="0"/>
                        <a:t> Less hand-off, fewer delays.</a:t>
                      </a:r>
                      <a:endParaRPr lang="en-IN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66448594"/>
                  </a:ext>
                </a:extLst>
              </a:tr>
              <a:tr h="1215242">
                <a:tc>
                  <a:txBody>
                    <a:bodyPr/>
                    <a:lstStyle/>
                    <a:p>
                      <a:r>
                        <a:rPr lang="en-US" b="1" dirty="0"/>
                        <a:t>Clarity:</a:t>
                      </a:r>
                      <a:r>
                        <a:rPr lang="en-US" dirty="0"/>
                        <a:t> Reduces ambiguity on who is responsible for a task/project.</a:t>
                      </a:r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Career Growth:</a:t>
                      </a:r>
                      <a:r>
                        <a:rPr lang="en-US" dirty="0"/>
                        <a:t> High ownership is a hallmark of leadership potential.</a:t>
                      </a:r>
                      <a:endParaRPr lang="en-IN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708507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6F6E3470-B72A-3639-E39C-9DF5B54AC8A8}"/>
              </a:ext>
            </a:extLst>
          </p:cNvPr>
          <p:cNvSpPr txBox="1">
            <a:spLocks/>
          </p:cNvSpPr>
          <p:nvPr/>
        </p:nvSpPr>
        <p:spPr>
          <a:xfrm>
            <a:off x="840185" y="1350924"/>
            <a:ext cx="10511627" cy="471489"/>
          </a:xfrm>
          <a:prstGeom prst="rect">
            <a:avLst/>
          </a:prstGeom>
        </p:spPr>
        <p:txBody>
          <a:bodyPr vert="horz" lIns="91440" tIns="0" rIns="91440" bIns="0" rtlCol="0" anchor="b" anchorCtr="0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rgbClr val="BC7942"/>
                </a:solidFill>
                <a:latin typeface="+mn-lt"/>
              </a:rPr>
              <a:t>Ownership is the bridge between intention and impact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Navigating Q&amp;A </a:t>
            </a:r>
            <a:br>
              <a:rPr lang="en-US" dirty="0"/>
            </a:br>
            <a:r>
              <a:rPr lang="en-US" dirty="0"/>
              <a:t>sessions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endParaRPr lang="en-US" dirty="0"/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33818870"/>
              </p:ext>
            </p:extLst>
          </p:nvPr>
        </p:nvGraphicFramePr>
        <p:xfrm>
          <a:off x="5087938" y="2332038"/>
          <a:ext cx="6345236" cy="38792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99503228"/>
              </p:ext>
            </p:extLst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{1E04340E-88F4-4C58-9BCB-9CD8D6AC7D51}tf78438558_win32</Template>
  <TotalTime>57</TotalTime>
  <Words>577</Words>
  <Application>Microsoft Office PowerPoint</Application>
  <PresentationFormat>Widescreen</PresentationFormat>
  <Paragraphs>128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Custom</vt:lpstr>
      <vt:lpstr>Stepping up beyond your role building a culture of support an ownership</vt:lpstr>
      <vt:lpstr>Why stepping up matters now?</vt:lpstr>
      <vt:lpstr>Defining “stepping beyond”</vt:lpstr>
      <vt:lpstr>The power of personal ownership</vt:lpstr>
      <vt:lpstr>Overcoming nervousness</vt:lpstr>
      <vt:lpstr>Selecting  visual aids</vt:lpstr>
      <vt:lpstr>Effective delivery techniques</vt:lpstr>
      <vt:lpstr>Navigating Q&amp;A  sessions</vt:lpstr>
      <vt:lpstr>Speaking impact</vt:lpstr>
      <vt:lpstr>Dynamic delivery</vt:lpstr>
      <vt:lpstr>Final tips &amp; takeaways</vt:lpstr>
      <vt:lpstr>Speaking engagement metrics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Yadav, Manas</dc:creator>
  <cp:lastModifiedBy>Yadav, Manas</cp:lastModifiedBy>
  <cp:revision>1</cp:revision>
  <dcterms:created xsi:type="dcterms:W3CDTF">2025-12-10T09:52:09Z</dcterms:created>
  <dcterms:modified xsi:type="dcterms:W3CDTF">2025-12-10T10:49:44Z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